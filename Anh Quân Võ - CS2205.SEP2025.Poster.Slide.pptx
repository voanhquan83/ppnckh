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</p:sldIdLst>
  <p:sldSz cx="6858000" cy="12192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84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FDFC"/>
    <a:srgbClr val="E5F3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3174" y="-1122"/>
      </p:cViewPr>
      <p:guideLst>
        <p:guide orient="horz" pos="384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3787425"/>
            <a:ext cx="5829300" cy="261337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6908800"/>
            <a:ext cx="4800600" cy="31157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5" y="7834491"/>
            <a:ext cx="5829300" cy="2421467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5" y="5167491"/>
            <a:ext cx="5829300" cy="266699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2844803"/>
            <a:ext cx="3028950" cy="80461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2844803"/>
            <a:ext cx="3028950" cy="804615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729090"/>
            <a:ext cx="3030141" cy="113735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3866444"/>
            <a:ext cx="3030141" cy="7024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70" y="2729090"/>
            <a:ext cx="3031331" cy="113735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70" y="3866444"/>
            <a:ext cx="3031331" cy="702451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485422"/>
            <a:ext cx="2256235" cy="206586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485425"/>
            <a:ext cx="3833813" cy="1040553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551291"/>
            <a:ext cx="2256235" cy="833966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8534400"/>
            <a:ext cx="4114800" cy="100753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1089378"/>
            <a:ext cx="4114800" cy="73152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9541934"/>
            <a:ext cx="4114800" cy="143086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488248"/>
            <a:ext cx="1543050" cy="1040271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488248"/>
            <a:ext cx="4514850" cy="1040271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488245"/>
            <a:ext cx="6172200" cy="203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2844803"/>
            <a:ext cx="6172200" cy="804615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11300181"/>
            <a:ext cx="16002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11300181"/>
            <a:ext cx="21717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11300181"/>
            <a:ext cx="1600200" cy="6491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C3F477D-367F-6C41-535F-FC91BF599639}"/>
              </a:ext>
            </a:extLst>
          </p:cNvPr>
          <p:cNvSpPr/>
          <p:nvPr/>
        </p:nvSpPr>
        <p:spPr>
          <a:xfrm>
            <a:off x="0" y="2266651"/>
            <a:ext cx="6858000" cy="9223524"/>
          </a:xfrm>
          <a:prstGeom prst="rect">
            <a:avLst/>
          </a:prstGeom>
          <a:solidFill>
            <a:srgbClr val="FDFD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Methodology Overview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1F528D2-FDBB-E1A9-7262-4C5C8A1F5253}"/>
              </a:ext>
            </a:extLst>
          </p:cNvPr>
          <p:cNvSpPr/>
          <p:nvPr/>
        </p:nvSpPr>
        <p:spPr>
          <a:xfrm>
            <a:off x="0" y="1"/>
            <a:ext cx="6858000" cy="2380950"/>
          </a:xfrm>
          <a:prstGeom prst="rect">
            <a:avLst/>
          </a:prstGeom>
          <a:solidFill>
            <a:srgbClr val="E5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5005819-4CF2-BFD0-9FF1-15DC2C2264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75048"/>
            <a:ext cx="6858000" cy="1205903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20D854E-E902-AC54-939C-E208673BB1A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6858000" cy="7747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000" b="1"/>
              <a:t>APPLYING MACHINE LEARNING FOR MALWARE DETECTION </a:t>
            </a:r>
          </a:p>
          <a:p>
            <a:r>
              <a:rPr lang="en-US" sz="2000" b="1"/>
              <a:t>IN HOSPITAL IT SYSTEMS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9257FC5-CC16-AA76-18D1-A0098724BBF8}"/>
              </a:ext>
            </a:extLst>
          </p:cNvPr>
          <p:cNvSpPr txBox="1">
            <a:spLocks/>
          </p:cNvSpPr>
          <p:nvPr/>
        </p:nvSpPr>
        <p:spPr>
          <a:xfrm>
            <a:off x="0" y="701825"/>
            <a:ext cx="6858000" cy="73659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spcBef>
                <a:spcPts val="0"/>
              </a:spcBef>
              <a:buNone/>
            </a:pPr>
            <a:r>
              <a:rPr lang="en-US" sz="1200" b="1"/>
              <a:t>Quan, Vo Anh </a:t>
            </a:r>
            <a:r>
              <a:rPr lang="en-US" sz="1200" baseline="30000"/>
              <a:t>1,2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200" baseline="30000"/>
              <a:t>1</a:t>
            </a:r>
            <a:r>
              <a:rPr lang="en-US" sz="1200"/>
              <a:t> University of Information Technology – VNU-HCM</a:t>
            </a:r>
          </a:p>
          <a:p>
            <a:pPr marL="0" indent="0" algn="ctr">
              <a:spcBef>
                <a:spcPts val="0"/>
              </a:spcBef>
              <a:buNone/>
            </a:pPr>
            <a:r>
              <a:rPr lang="en-US" sz="1200" baseline="30000"/>
              <a:t>2</a:t>
            </a:r>
            <a:r>
              <a:rPr lang="en-US" sz="1200"/>
              <a:t> Vietnam National University, Ho Chi Minh City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413240D-CE40-3E60-E168-C790BF757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06" y="2835714"/>
            <a:ext cx="758075" cy="746927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8456587A-90E2-38F0-DEDB-BC7EE5CA6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8643" y="2456931"/>
            <a:ext cx="4057690" cy="248387"/>
          </a:xfrm>
        </p:spPr>
        <p:txBody>
          <a:bodyPr>
            <a:normAutofit fontScale="90000"/>
          </a:bodyPr>
          <a:lstStyle/>
          <a:p>
            <a:pPr algn="l"/>
            <a:r>
              <a:rPr lang="en-US" sz="1800" b="1"/>
              <a:t>BACKGROUND AND PROBLEM STATEMENT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65CB0A2-6798-085A-5F80-73F3102486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0981" y="2679698"/>
            <a:ext cx="4711619" cy="120590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sz="1200"/>
              <a:t>Hospital IT systems face serious cybersecurity threats such as ransomware and malware.</a:t>
            </a:r>
          </a:p>
          <a:p>
            <a:pPr marL="0" indent="0">
              <a:buNone/>
            </a:pPr>
            <a:r>
              <a:rPr sz="1200"/>
              <a:t>Traditional signature-based detection methods are insufficient against evolving attacks.</a:t>
            </a:r>
          </a:p>
          <a:p>
            <a:pPr marL="0" indent="0">
              <a:buNone/>
            </a:pPr>
            <a:r>
              <a:rPr sz="1200"/>
              <a:t>Ensuring patient data privacy and system availability is critical.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9094D67-DB3C-1FCD-59B6-74979DDCB0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3229" y="2969792"/>
            <a:ext cx="1228571" cy="609524"/>
          </a:xfrm>
          <a:prstGeom prst="rect">
            <a:avLst/>
          </a:prstGeom>
        </p:spPr>
      </p:pic>
      <p:sp>
        <p:nvSpPr>
          <p:cNvPr id="21" name="Title 1">
            <a:extLst>
              <a:ext uri="{FF2B5EF4-FFF2-40B4-BE49-F238E27FC236}">
                <a16:creationId xmlns:a16="http://schemas.microsoft.com/office/drawing/2014/main" id="{5382FD44-7A89-E1EE-A52E-B7F7FBED2A44}"/>
              </a:ext>
            </a:extLst>
          </p:cNvPr>
          <p:cNvSpPr txBox="1">
            <a:spLocks/>
          </p:cNvSpPr>
          <p:nvPr/>
        </p:nvSpPr>
        <p:spPr>
          <a:xfrm>
            <a:off x="738643" y="3755037"/>
            <a:ext cx="4057690" cy="24838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sz="1600" b="1"/>
              <a:t>RESEARCH OBJECTIVES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CE538ED1-D10F-F36A-1618-1498E2F67EDE}"/>
              </a:ext>
            </a:extLst>
          </p:cNvPr>
          <p:cNvSpPr txBox="1">
            <a:spLocks/>
          </p:cNvSpPr>
          <p:nvPr/>
        </p:nvSpPr>
        <p:spPr>
          <a:xfrm>
            <a:off x="863681" y="4025898"/>
            <a:ext cx="5778419" cy="12059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r>
              <a:rPr lang="en-US" sz="1200"/>
              <a:t>Hospital IT systems face serious cybersecurity threats such as ransomware and malware.</a:t>
            </a:r>
          </a:p>
          <a:p>
            <a:pPr marL="0" indent="0">
              <a:buFont typeface="Arial"/>
              <a:buNone/>
            </a:pPr>
            <a:r>
              <a:rPr lang="en-US" sz="1200"/>
              <a:t>Traditional signature-based detection methods are insufficient against evolving attacks.</a:t>
            </a:r>
          </a:p>
          <a:p>
            <a:pPr marL="0" indent="0">
              <a:buFont typeface="Arial"/>
              <a:buNone/>
            </a:pPr>
            <a:r>
              <a:rPr lang="en-US" sz="1200"/>
              <a:t>Ensuring patient data privacy and system availability is critical.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E57AE93-328E-54A7-A23D-9E7C75957C7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5305" y="4060424"/>
            <a:ext cx="495238" cy="571429"/>
          </a:xfrm>
          <a:prstGeom prst="rect">
            <a:avLst/>
          </a:prstGeom>
        </p:spPr>
      </p:pic>
      <p:sp>
        <p:nvSpPr>
          <p:cNvPr id="27" name="Title 1">
            <a:extLst>
              <a:ext uri="{FF2B5EF4-FFF2-40B4-BE49-F238E27FC236}">
                <a16:creationId xmlns:a16="http://schemas.microsoft.com/office/drawing/2014/main" id="{A1307E8C-67DE-9855-D9EA-C2AC234D2E50}"/>
              </a:ext>
            </a:extLst>
          </p:cNvPr>
          <p:cNvSpPr txBox="1">
            <a:spLocks/>
          </p:cNvSpPr>
          <p:nvPr/>
        </p:nvSpPr>
        <p:spPr>
          <a:xfrm>
            <a:off x="738643" y="4713828"/>
            <a:ext cx="2755900" cy="38267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1600" b="1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METHODOLOGY OVERVIEW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5110CD1-002A-B4E0-E667-ED304B4CDE0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6057" y="5027576"/>
            <a:ext cx="6425077" cy="796909"/>
          </a:xfrm>
          <a:prstGeom prst="rect">
            <a:avLst/>
          </a:prstGeom>
        </p:spPr>
      </p:pic>
      <p:sp>
        <p:nvSpPr>
          <p:cNvPr id="31" name="Title 1">
            <a:extLst>
              <a:ext uri="{FF2B5EF4-FFF2-40B4-BE49-F238E27FC236}">
                <a16:creationId xmlns:a16="http://schemas.microsoft.com/office/drawing/2014/main" id="{BF929B14-08DD-EB6A-15C5-EAE64F7607B2}"/>
              </a:ext>
            </a:extLst>
          </p:cNvPr>
          <p:cNvSpPr txBox="1">
            <a:spLocks/>
          </p:cNvSpPr>
          <p:nvPr/>
        </p:nvSpPr>
        <p:spPr>
          <a:xfrm>
            <a:off x="738643" y="5775386"/>
            <a:ext cx="2794000" cy="42751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1600" b="1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MACHINE LEARNING MODELS</a:t>
            </a:r>
          </a:p>
        </p:txBody>
      </p:sp>
      <p:sp>
        <p:nvSpPr>
          <p:cNvPr id="32" name="Content Placeholder 2">
            <a:extLst>
              <a:ext uri="{FF2B5EF4-FFF2-40B4-BE49-F238E27FC236}">
                <a16:creationId xmlns:a16="http://schemas.microsoft.com/office/drawing/2014/main" id="{4E9B0915-D3E8-1A6E-9D17-7AA3AA91582F}"/>
              </a:ext>
            </a:extLst>
          </p:cNvPr>
          <p:cNvSpPr txBox="1">
            <a:spLocks/>
          </p:cNvSpPr>
          <p:nvPr/>
        </p:nvSpPr>
        <p:spPr>
          <a:xfrm>
            <a:off x="850981" y="6135670"/>
            <a:ext cx="2643399" cy="771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/>
              <a:t>DECISION TREE: </a:t>
            </a:r>
          </a:p>
          <a:p>
            <a:pPr marL="0" indent="0">
              <a:buNone/>
            </a:pPr>
            <a:r>
              <a:rPr lang="en-US" sz="1200"/>
              <a:t>Interpretable model with hierarchical feature splits.</a:t>
            </a:r>
          </a:p>
        </p:txBody>
      </p: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C28AB61A-1838-59D7-80E0-FAAB4132DD4E}"/>
              </a:ext>
            </a:extLst>
          </p:cNvPr>
          <p:cNvSpPr txBox="1">
            <a:spLocks/>
          </p:cNvSpPr>
          <p:nvPr/>
        </p:nvSpPr>
        <p:spPr>
          <a:xfrm>
            <a:off x="4061725" y="6110584"/>
            <a:ext cx="2703369" cy="88392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/>
              <a:t>SUPPORT VECTOR MACHINE (SVM):</a:t>
            </a:r>
          </a:p>
          <a:p>
            <a:pPr marL="0" indent="0">
              <a:buNone/>
            </a:pPr>
            <a:r>
              <a:rPr lang="en-US" sz="1200"/>
              <a:t>Effective for high-dimensional feature spaces.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95AD06D6-50E0-6AA5-53B2-F456BBB5696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686" y="6090004"/>
            <a:ext cx="790476" cy="771429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:a16="http://schemas.microsoft.com/office/drawing/2014/main" id="{EFE99838-AD42-1208-A80A-B6DD5CF4B7B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0033" y="6216236"/>
            <a:ext cx="685714" cy="676190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:a16="http://schemas.microsoft.com/office/drawing/2014/main" id="{A016E92E-476C-F5AB-8337-6F829527CA02}"/>
              </a:ext>
            </a:extLst>
          </p:cNvPr>
          <p:cNvSpPr txBox="1">
            <a:spLocks/>
          </p:cNvSpPr>
          <p:nvPr/>
        </p:nvSpPr>
        <p:spPr>
          <a:xfrm>
            <a:off x="848162" y="6917035"/>
            <a:ext cx="3983209" cy="35036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1600" b="1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EXPERIMENTAL SETUP AND EVALUATION</a:t>
            </a:r>
          </a:p>
        </p:txBody>
      </p:sp>
      <p:sp>
        <p:nvSpPr>
          <p:cNvPr id="40" name="Content Placeholder 2">
            <a:extLst>
              <a:ext uri="{FF2B5EF4-FFF2-40B4-BE49-F238E27FC236}">
                <a16:creationId xmlns:a16="http://schemas.microsoft.com/office/drawing/2014/main" id="{BFFFFF58-6357-EBF5-BF4B-0D9C06D0371F}"/>
              </a:ext>
            </a:extLst>
          </p:cNvPr>
          <p:cNvSpPr txBox="1">
            <a:spLocks/>
          </p:cNvSpPr>
          <p:nvPr/>
        </p:nvSpPr>
        <p:spPr>
          <a:xfrm>
            <a:off x="850981" y="7216815"/>
            <a:ext cx="5791119" cy="77142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/>
              <a:t>Dataset</a:t>
            </a:r>
            <a:r>
              <a:rPr lang="en-US" sz="1200"/>
              <a:t> includes benign software and real-world malware samples.</a:t>
            </a:r>
          </a:p>
          <a:p>
            <a:pPr marL="0" indent="0">
              <a:buNone/>
            </a:pPr>
            <a:r>
              <a:rPr lang="en-US" sz="1200" b="1"/>
              <a:t>Evaluation metrics</a:t>
            </a:r>
            <a:r>
              <a:rPr lang="en-US" sz="1200"/>
              <a:t>: Accuracy, Precision, Recall, F1-score, False Positive Rate.</a:t>
            </a:r>
          </a:p>
          <a:p>
            <a:pPr marL="0" indent="0">
              <a:buNone/>
            </a:pPr>
            <a:r>
              <a:rPr lang="en-US" sz="1200"/>
              <a:t>Cross-validation used to ensure robustness.</a:t>
            </a:r>
          </a:p>
        </p:txBody>
      </p:sp>
      <p:pic>
        <p:nvPicPr>
          <p:cNvPr id="42" name="Picture 41">
            <a:extLst>
              <a:ext uri="{FF2B5EF4-FFF2-40B4-BE49-F238E27FC236}">
                <a16:creationId xmlns:a16="http://schemas.microsoft.com/office/drawing/2014/main" id="{D3F71D6F-DED0-CDD7-B8B5-719370AE00C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514" y="7139834"/>
            <a:ext cx="761905" cy="723810"/>
          </a:xfrm>
          <a:prstGeom prst="rect">
            <a:avLst/>
          </a:prstGeom>
        </p:spPr>
      </p:pic>
      <p:sp>
        <p:nvSpPr>
          <p:cNvPr id="43" name="Title 1">
            <a:extLst>
              <a:ext uri="{FF2B5EF4-FFF2-40B4-BE49-F238E27FC236}">
                <a16:creationId xmlns:a16="http://schemas.microsoft.com/office/drawing/2014/main" id="{2C1FCD3B-43FF-6444-1722-32B7387E337F}"/>
              </a:ext>
            </a:extLst>
          </p:cNvPr>
          <p:cNvSpPr txBox="1">
            <a:spLocks/>
          </p:cNvSpPr>
          <p:nvPr/>
        </p:nvSpPr>
        <p:spPr>
          <a:xfrm>
            <a:off x="120690" y="7931393"/>
            <a:ext cx="2819796" cy="35036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1600" b="1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RESULTS COMPARISON</a:t>
            </a:r>
          </a:p>
        </p:txBody>
      </p:sp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F721A2C2-7710-25BB-B22F-117FF4385164}"/>
              </a:ext>
            </a:extLst>
          </p:cNvPr>
          <p:cNvSpPr txBox="1">
            <a:spLocks/>
          </p:cNvSpPr>
          <p:nvPr/>
        </p:nvSpPr>
        <p:spPr>
          <a:xfrm>
            <a:off x="120690" y="8217580"/>
            <a:ext cx="3058595" cy="1195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/>
              <a:t>SVM achieved higher detection accuracy than Decision Tree.</a:t>
            </a:r>
          </a:p>
          <a:p>
            <a:pPr marL="0" indent="0">
              <a:buNone/>
            </a:pPr>
            <a:r>
              <a:rPr lang="en-US" sz="1200"/>
              <a:t>Lower false positive rate observed with SVM.</a:t>
            </a:r>
          </a:p>
          <a:p>
            <a:pPr marL="0" indent="0">
              <a:buNone/>
            </a:pPr>
            <a:r>
              <a:rPr lang="en-US" sz="1200"/>
              <a:t>ROC analysis confirms stronger generalization performance.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F668D27F-7FD8-DF3E-AD48-C0CD7E2F1FA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156386" y="7887684"/>
            <a:ext cx="3485714" cy="1638095"/>
          </a:xfrm>
          <a:prstGeom prst="rect">
            <a:avLst/>
          </a:prstGeom>
        </p:spPr>
      </p:pic>
      <p:sp>
        <p:nvSpPr>
          <p:cNvPr id="47" name="Title 1">
            <a:extLst>
              <a:ext uri="{FF2B5EF4-FFF2-40B4-BE49-F238E27FC236}">
                <a16:creationId xmlns:a16="http://schemas.microsoft.com/office/drawing/2014/main" id="{E6445E49-2C58-4D74-BC8D-D3D611BBD480}"/>
              </a:ext>
            </a:extLst>
          </p:cNvPr>
          <p:cNvSpPr txBox="1">
            <a:spLocks/>
          </p:cNvSpPr>
          <p:nvPr/>
        </p:nvSpPr>
        <p:spPr>
          <a:xfrm>
            <a:off x="215900" y="9502245"/>
            <a:ext cx="6439766" cy="3881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1600" b="1"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PRACTICAL APPLICATION IN HOSPITAL ENVIRONMENTS</a:t>
            </a:r>
          </a:p>
        </p:txBody>
      </p:sp>
      <p:sp>
        <p:nvSpPr>
          <p:cNvPr id="48" name="Content Placeholder 2">
            <a:extLst>
              <a:ext uri="{FF2B5EF4-FFF2-40B4-BE49-F238E27FC236}">
                <a16:creationId xmlns:a16="http://schemas.microsoft.com/office/drawing/2014/main" id="{CF7FC885-C28E-D56D-8543-D78386C4CD28}"/>
              </a:ext>
            </a:extLst>
          </p:cNvPr>
          <p:cNvSpPr txBox="1">
            <a:spLocks/>
          </p:cNvSpPr>
          <p:nvPr/>
        </p:nvSpPr>
        <p:spPr>
          <a:xfrm>
            <a:off x="959656" y="9811966"/>
            <a:ext cx="5187143" cy="8250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/>
              <a:t>Deployable at hospital network gateways or as a standalone security tool.</a:t>
            </a:r>
          </a:p>
          <a:p>
            <a:pPr marL="0" indent="0">
              <a:buNone/>
            </a:pPr>
            <a:r>
              <a:rPr lang="en-US" sz="1200"/>
              <a:t>Supports real-time file analysis and automated alerts.</a:t>
            </a:r>
          </a:p>
          <a:p>
            <a:pPr marL="0" indent="0">
              <a:buNone/>
            </a:pPr>
            <a:r>
              <a:rPr lang="en-US" sz="1200"/>
              <a:t>Helps mitigate threats before compromising HIS/EHR systems.</a:t>
            </a: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55DE733C-EE77-9DD3-20BF-E8E6DC12A22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753228" y="9796648"/>
            <a:ext cx="828571" cy="800000"/>
          </a:xfrm>
          <a:prstGeom prst="rect">
            <a:avLst/>
          </a:prstGeom>
        </p:spPr>
      </p:pic>
      <p:pic>
        <p:nvPicPr>
          <p:cNvPr id="54" name="Picture 53">
            <a:extLst>
              <a:ext uri="{FF2B5EF4-FFF2-40B4-BE49-F238E27FC236}">
                <a16:creationId xmlns:a16="http://schemas.microsoft.com/office/drawing/2014/main" id="{10D45D18-7501-839F-A3DE-72B8C762934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514" y="9758721"/>
            <a:ext cx="857143" cy="771429"/>
          </a:xfrm>
          <a:prstGeom prst="rect">
            <a:avLst/>
          </a:prstGeom>
        </p:spPr>
      </p:pic>
      <p:sp>
        <p:nvSpPr>
          <p:cNvPr id="55" name="Title 1">
            <a:extLst>
              <a:ext uri="{FF2B5EF4-FFF2-40B4-BE49-F238E27FC236}">
                <a16:creationId xmlns:a16="http://schemas.microsoft.com/office/drawing/2014/main" id="{FF61E972-93A2-9CB9-9F08-70C6D6BDB95D}"/>
              </a:ext>
            </a:extLst>
          </p:cNvPr>
          <p:cNvSpPr txBox="1">
            <a:spLocks/>
          </p:cNvSpPr>
          <p:nvPr/>
        </p:nvSpPr>
        <p:spPr>
          <a:xfrm>
            <a:off x="205305" y="10497086"/>
            <a:ext cx="6172200" cy="46849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defPPr>
              <a:defRPr lang="en-US"/>
            </a:defPPr>
            <a:lvl1pPr>
              <a:spcBef>
                <a:spcPct val="0"/>
              </a:spcBef>
              <a:buNone/>
              <a:defRPr sz="1600" b="1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CONCLUSION AND FUTURE WORK</a:t>
            </a:r>
          </a:p>
        </p:txBody>
      </p: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F8B8C0C7-65D9-E9BA-C260-80F6C3EC4664}"/>
              </a:ext>
            </a:extLst>
          </p:cNvPr>
          <p:cNvSpPr txBox="1">
            <a:spLocks/>
          </p:cNvSpPr>
          <p:nvPr/>
        </p:nvSpPr>
        <p:spPr>
          <a:xfrm>
            <a:off x="205305" y="10816337"/>
            <a:ext cx="6172200" cy="70671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/>
              <a:t>Machine learning, especially SVM, is effective for hospital malware detection.</a:t>
            </a:r>
          </a:p>
          <a:p>
            <a:pPr marL="0" indent="0">
              <a:buNone/>
            </a:pPr>
            <a:r>
              <a:rPr lang="en-US" sz="1200"/>
              <a:t>Approach enhances overall cybersecurity posture.</a:t>
            </a:r>
          </a:p>
          <a:p>
            <a:pPr marL="0" indent="0">
              <a:buNone/>
            </a:pPr>
            <a:r>
              <a:rPr lang="en-US" sz="1200"/>
              <a:t>Future work: deep learning, dynamic analysis, centralized security dashboards.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24EB3EB-9F4E-5375-266C-A3BDE3EC4FCA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6161" r="19816"/>
          <a:stretch>
            <a:fillRect/>
          </a:stretch>
        </p:blipFill>
        <p:spPr>
          <a:xfrm>
            <a:off x="0" y="11702369"/>
            <a:ext cx="6858000" cy="483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8200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263</Words>
  <Application>Microsoft Office PowerPoint</Application>
  <PresentationFormat>Widescreen</PresentationFormat>
  <Paragraphs>36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BACKGROUND AND PROBLEM STATEMENT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Vo Anh Quan (Phong CNTT)</cp:lastModifiedBy>
  <cp:revision>32</cp:revision>
  <dcterms:created xsi:type="dcterms:W3CDTF">2013-01-27T09:14:16Z</dcterms:created>
  <dcterms:modified xsi:type="dcterms:W3CDTF">2025-12-25T15:47:49Z</dcterms:modified>
  <cp:category/>
</cp:coreProperties>
</file>